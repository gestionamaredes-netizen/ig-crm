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377440"/>
            <a:ext cx="5943600" cy="5943600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4" name="Shape 2"/>
          <p:cNvSpPr/>
          <p:nvPr/>
        </p:nvSpPr>
        <p:spPr>
          <a:xfrm>
            <a:off x="-2560320" y="4023360"/>
            <a:ext cx="5029200" cy="5029200"/>
          </a:xfrm>
          <a:prstGeom prst="ellipse">
            <a:avLst/>
          </a:prstGeom>
          <a:solidFill>
            <a:srgbClr val="0A142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941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spc="1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</a:t>
            </a:r>
            <a:endParaRPr lang="en-US" sz="920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52120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52044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spc="300" kern="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IMPORTADOS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4709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COMMERCE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41248" y="5166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90 días y sistema de crecimiento — BLUR Growth System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 para la marca · 14-08-2026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“una cuenta que vende ropa” a un sistema de Drops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349240" cy="914400"/>
          </a:xfrm>
          <a:prstGeom prst="roundRect">
            <a:avLst>
              <a:gd name="adj" fmla="val 90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488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21488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y mercado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227832"/>
            <a:ext cx="5349240" cy="914400"/>
          </a:xfrm>
          <a:prstGeom prst="roundRect">
            <a:avLst>
              <a:gd name="adj" fmla="val 90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322783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91640" y="322783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Audiencias y la oportunidad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306824"/>
            <a:ext cx="5349240" cy="914400"/>
          </a:xfrm>
          <a:prstGeom prst="roundRect">
            <a:avLst>
              <a:gd name="adj" fmla="val 90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4306824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691640" y="4306824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 los Drops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385816"/>
            <a:ext cx="5349240" cy="914400"/>
          </a:xfrm>
          <a:prstGeom prst="roundRect">
            <a:avLst>
              <a:gd name="adj" fmla="val 90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5385816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691640" y="5385816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 creativo y Marco Colom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63640" y="2148840"/>
            <a:ext cx="5349240" cy="914400"/>
          </a:xfrm>
          <a:prstGeom prst="roundRect">
            <a:avLst>
              <a:gd name="adj" fmla="val 90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92240" y="21488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15200" y="21488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contenido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3227832"/>
            <a:ext cx="5349240" cy="914400"/>
          </a:xfrm>
          <a:prstGeom prst="roundRect">
            <a:avLst>
              <a:gd name="adj" fmla="val 90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0" y="322783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315200" y="322783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Lanzamiento, ventas y CRM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63640" y="4306824"/>
            <a:ext cx="5349240" cy="914400"/>
          </a:xfrm>
          <a:prstGeom prst="roundRect">
            <a:avLst>
              <a:gd name="adj" fmla="val 90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92240" y="4306824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315200" y="4306824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90 días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263640" y="5385816"/>
            <a:ext cx="5349240" cy="914400"/>
          </a:xfrm>
          <a:prstGeom prst="roundRect">
            <a:avLst>
              <a:gd name="adj" fmla="val 90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92240" y="5385816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315200" y="5385816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pasos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difícil ya está resuelto. Falta la narrativa.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 ya definida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235000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Paleta, tipografía, tono “cercano, directo, con actitud” — manual de marca cerrado.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3383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Drops operativo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72160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Countdown, stock limitado, reglas claras: no se extiende, no se repite el mismo Drop.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457200" cy="457200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80160" y="4754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de niveles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509320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/ Silver / Gold / Black ya definido para clientes recurrentes.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766560" y="2057400"/>
            <a:ext cx="4800600" cy="4160520"/>
          </a:xfrm>
          <a:prstGeom prst="roundRect">
            <a:avLst>
              <a:gd name="adj" fmla="val 1978"/>
            </a:avLst>
          </a:prstGeom>
          <a:solidFill>
            <a:srgbClr val="141414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86600" y="23317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PUNTO DE PARTIDA REAL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086600" y="27432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@tony.importa2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086600" y="33832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7086600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publicaciones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89720" y="33832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9189720" y="4114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seguidores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86600" y="489204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cuenta arranca literalmente vacía. No hay audiencia ni contenido que optimizar — solo una marca ya resuelta puertas adentro, esperando su primer contenido.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A RESOLVER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mismo Drop, dos preguntas distintas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349240" cy="4160520"/>
          </a:xfrm>
          <a:prstGeom prst="roundRect">
            <a:avLst>
              <a:gd name="adj" fmla="val 197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377440"/>
            <a:ext cx="1435608" cy="310896"/>
          </a:xfrm>
          <a:prstGeom prst="roundRect">
            <a:avLst>
              <a:gd name="adj" fmla="val 50000"/>
            </a:avLst>
          </a:prstGeom>
          <a:solidFill>
            <a:srgbClr val="0D0D0D"/>
          </a:solidFill>
          <a:ln w="12700">
            <a:solidFill>
              <a:srgbClr val="FF1E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77440"/>
            <a:ext cx="143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PÚBLICO 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" y="28803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Renovar el ropero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“¿Qué me llevo por $70K / $150K / $250K / $400K?”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44348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 variedad, calidad, precio y estética. La respuesta es un look completo en una sola compra.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2103120"/>
            <a:ext cx="5349240" cy="4160520"/>
          </a:xfrm>
          <a:prstGeom prst="roundRect">
            <a:avLst>
              <a:gd name="adj" fmla="val 197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0" y="2377440"/>
            <a:ext cx="1435608" cy="310896"/>
          </a:xfrm>
          <a:prstGeom prst="roundRect">
            <a:avLst>
              <a:gd name="adj" fmla="val 50000"/>
            </a:avLst>
          </a:prstGeom>
          <a:solidFill>
            <a:srgbClr val="0D0D0D"/>
          </a:solidFill>
          <a:ln w="12700">
            <a:solidFill>
              <a:srgbClr val="00A8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2377440"/>
            <a:ext cx="143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PÚBLICO 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0" y="28803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Empezar a vender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583680" y="35204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“¿Cuánto puedo vender con este Drop?”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0" y="44348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 stock inicial sin la barrera de negociar con un mayorista. Hoy este público está desatendido por la comunicación.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· ARGENTINA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cierre de venta real es WhatsApp, no un checkout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2860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662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2971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saladitas relevadas en el país, con 86.728 vendedores informales (Diario de Cuyo, 2017) — orden de magnitud del circuito, no una cifra vigente.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3400" y="210312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17720" y="22860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617720" y="2971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informalidad laboral urbana a fines de 2025 (INDEC) — contexto macro del mercado en el que opera la reventa.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210312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21040" y="22860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321040" y="2971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Shop no está activo en Argentina (sí en México y Brasil) — el contenido empuja tráfico a WhatsApp, no a un checkout nativo inexistente.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4617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COMPETIDORES RELEVADOS (cifras de snippet de búsqueda, a confirmar en vivo)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98348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@drops_ba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68680" y="5394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~295K seguidores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68680" y="5669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Sneakers/streetwear, +10 años de trayectoria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43400" y="498348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7200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@importadoslaplata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0" y="5394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~217K seguidores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0" y="5669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Ropa importada, sin mecánica de Drop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46720" y="498348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141414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753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@urbanoimportador...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75320" y="5394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~31K seguidores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75320" y="5669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mayorista — deja al consumidor final sin oferta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avatares, tres razones distintas para comprar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20440" cy="3749040"/>
          </a:xfrm>
          <a:prstGeom prst="roundRect">
            <a:avLst>
              <a:gd name="adj" fmla="val 233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2677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8620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Consumidor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310128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 años. Compara precio y estética. Compra cuando ve prueba social y stock real.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14400" y="4709160"/>
            <a:ext cx="297180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82803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OBJECIÓN CLAVE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4400" y="50749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“¿Es original o réplica?”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2103120"/>
            <a:ext cx="3520440" cy="3749040"/>
          </a:xfrm>
          <a:prstGeom prst="roundRect">
            <a:avLst>
              <a:gd name="adj" fmla="val 233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17720" y="22677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17720" y="28620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Emprendedor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17720" y="3310128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18-35 años, capital bajo-medio. Miedo a quedarse con stock sin vender.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17720" y="4709160"/>
            <a:ext cx="297180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482803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OBJECIÓN CLAVE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617720" y="50749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“¿Y si no vendo todo?”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46720" y="2103120"/>
            <a:ext cx="3520440" cy="3749040"/>
          </a:xfrm>
          <a:prstGeom prst="roundRect">
            <a:avLst>
              <a:gd name="adj" fmla="val 233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321040" y="226771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321040" y="28620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Revendedor existente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21040" y="3310128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vende, busca ampliar variedad sin negociar con un mayorista nuevo.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321040" y="4709160"/>
            <a:ext cx="297180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482803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OBJECIÓN CLAVE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321040" y="50749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“¿Por qué te compro a vos?”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Avatares construidos como hipótesis de trabajo — a reemplazar por datos propios apenas existan pedidos reales categorizados en el CRM.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OPORTUNIDAD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“Drop Commerce”: una intersección que nadie ocupa entera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848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pieza de este modelo existe por separado en otros mercados. No encontramos una marca que las una todas bajo un mismo sistema.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24328" cy="2286000"/>
          </a:xfrm>
          <a:prstGeom prst="roundRect">
            <a:avLst>
              <a:gd name="adj" fmla="val 36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834640"/>
            <a:ext cx="128016" cy="128016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3063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Mystery boxes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68680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EE.UU.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4023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Framing de valor por tier de precio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65576" y="2606040"/>
            <a:ext cx="2624328" cy="2286000"/>
          </a:xfrm>
          <a:prstGeom prst="roundRect">
            <a:avLst>
              <a:gd name="adj" fmla="val 36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94176" y="2834640"/>
            <a:ext cx="128016" cy="128016"/>
          </a:xfrm>
          <a:prstGeom prst="ellipse">
            <a:avLst/>
          </a:prstGeom>
          <a:solidFill>
            <a:srgbClr val="FFD600"/>
          </a:solidFill>
          <a:ln/>
        </p:spPr>
      </p:sp>
      <p:sp>
        <p:nvSpPr>
          <p:cNvPr id="12" name="Text 10"/>
          <p:cNvSpPr/>
          <p:nvPr/>
        </p:nvSpPr>
        <p:spPr>
          <a:xfrm>
            <a:off x="3694176" y="3063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Reseller starter packs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94176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EE.UU. / Europa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94176" y="4023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Framing “para revender”, bajo compromiso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91072" y="2606040"/>
            <a:ext cx="2624328" cy="2286000"/>
          </a:xfrm>
          <a:prstGeom prst="roundRect">
            <a:avLst>
              <a:gd name="adj" fmla="val 36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19672" y="2834640"/>
            <a:ext cx="128016" cy="128016"/>
          </a:xfrm>
          <a:prstGeom prst="ellipse">
            <a:avLst/>
          </a:prstGeom>
          <a:solidFill>
            <a:srgbClr val="00A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063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Cajas curadas (Stitch Fix)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519672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EE.UU. / España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19672" y="4023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que se paga por curaduría lista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116568" y="2606040"/>
            <a:ext cx="2624328" cy="2286000"/>
          </a:xfrm>
          <a:prstGeom prst="roundRect">
            <a:avLst>
              <a:gd name="adj" fmla="val 36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345168" y="2834640"/>
            <a:ext cx="128016" cy="128016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22" name="Text 20"/>
          <p:cNvSpPr/>
          <p:nvPr/>
        </p:nvSpPr>
        <p:spPr>
          <a:xfrm>
            <a:off x="9345168" y="3063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 del Drop (Nike/Supreme)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345168" y="3703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345168" y="4023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Escasez programada como mecánica de deseo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5120640"/>
            <a:ext cx="10908792" cy="1097280"/>
          </a:xfrm>
          <a:prstGeom prst="roundRect">
            <a:avLst>
              <a:gd name="adj" fmla="val 7500"/>
            </a:avLst>
          </a:prstGeom>
          <a:solidFill>
            <a:srgbClr val="1F1006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14400" y="528523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Tony NO debe ser: un modelo de venta directa/MLM.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14400" y="560527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reclutamiento, sin comisión por captar revendedores, sin presión a escalar inventario, sin promesa de ingreso — un combo, una vez, con reventa opcional.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080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 CRÍTICO — PARA DECIDIR EN CONJUNTO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“Calidad G5 Premium” no es una certificación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0848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jerga informal del mercado de réplicas/reps de zapatillas y ropa de marca. Ni siquiera dentro de ese mercado hay un rango fijo: un revendedor argentino real (Bucanero Calzados) ubica “Top Quality” por encima de “G5” en su propia escala.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92608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241111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3017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un sello oficial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663440" y="30175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8B9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organismo independiente respalda el término — cada vendedor lo define a su manera.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241111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4400" y="40690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 de marca y legal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406908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8B9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Usarlo junto a siluetas tipo Nike/Jordan puede leerse como señal de producto no autorizado.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241111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5120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hacemos mientras tanto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63440" y="512064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8B9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pieza de este proyecto usa “G5 Premium” hasta definir con ustedes qué es el producto exactamente.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 DROPS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niveles, cuatro lógicas distintas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24328" cy="4023360"/>
          </a:xfrm>
          <a:prstGeom prst="roundRect">
            <a:avLst>
              <a:gd name="adj" fmla="val 3136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2860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D0D0D"/>
          </a:solidFill>
          <a:ln w="15875">
            <a:solidFill>
              <a:srgbClr val="FF1E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$70K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41248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324612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Puerta de entrada al sistema — para probar antes de invertir más.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41248" y="4983480"/>
            <a:ext cx="219456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51206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nuevo — no existe todavía en el manual operativo ni en el CRM.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65576" y="2103120"/>
            <a:ext cx="2624328" cy="4023360"/>
          </a:xfrm>
          <a:prstGeom prst="roundRect">
            <a:avLst>
              <a:gd name="adj" fmla="val 3136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66744" y="22860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D0D0D"/>
          </a:solidFill>
          <a:ln w="15875">
            <a:solidFill>
              <a:srgbClr val="FFD6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66744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66744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66744" y="324612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Buzo + jogger + gorra. El primer look completo, o el primer stock real.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66744" y="4983480"/>
            <a:ext cx="219456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66744" y="51206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Definido.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91072" y="2103120"/>
            <a:ext cx="2624328" cy="4023360"/>
          </a:xfrm>
          <a:prstGeom prst="roundRect">
            <a:avLst>
              <a:gd name="adj" fmla="val 3136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92240" y="22860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D0D0D"/>
          </a:solidFill>
          <a:ln w="15875">
            <a:solidFill>
              <a:srgbClr val="00A8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$250K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92240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92240" y="324612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Campera + jogger + buzo. Mejora de calidad percibida, no solo cantidad.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92240" y="4983480"/>
            <a:ext cx="219456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51206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Definido.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116568" y="2103120"/>
            <a:ext cx="2624328" cy="4023360"/>
          </a:xfrm>
          <a:prstGeom prst="roundRect">
            <a:avLst>
              <a:gd name="adj" fmla="val 3136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317736" y="22860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D0D0D"/>
          </a:solidFill>
          <a:ln w="15875">
            <a:solidFill>
              <a:srgbClr val="FF1E1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17736" y="22860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$400K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317736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317736" y="324612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Puffer + rompeviento + jogger + buzo + gorra + riñonera. El combo completo.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317736" y="4983480"/>
            <a:ext cx="219456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17736" y="51206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Definido.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POSICIONAMIENTO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mensajes, una sola marca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377440"/>
            <a:ext cx="1316736" cy="310896"/>
          </a:xfrm>
          <a:prstGeom prst="roundRect">
            <a:avLst>
              <a:gd name="adj" fmla="val 50000"/>
            </a:avLst>
          </a:prstGeom>
          <a:solidFill>
            <a:srgbClr val="0D0D0D"/>
          </a:solidFill>
          <a:ln w="12700">
            <a:solidFill>
              <a:srgbClr val="FF1E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77440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CAMINO 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" y="28803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Renová tu ropero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 inteligente de indumentaria deportiva.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210312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2377440"/>
            <a:ext cx="1316736" cy="310896"/>
          </a:xfrm>
          <a:prstGeom prst="roundRect">
            <a:avLst>
              <a:gd name="adj" fmla="val 50000"/>
            </a:avLst>
          </a:prstGeom>
          <a:solidFill>
            <a:srgbClr val="0D0D0D"/>
          </a:solidFill>
          <a:ln w="12700">
            <a:solidFill>
              <a:srgbClr val="00A8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2377440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CAMINO 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0" y="28803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Empezá a vender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83680" y="35204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Drop como stock inicial para emprender.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709160"/>
            <a:ext cx="10908792" cy="1508760"/>
          </a:xfrm>
          <a:prstGeom prst="roundRect">
            <a:avLst>
              <a:gd name="adj" fmla="val 5455"/>
            </a:avLst>
          </a:prstGeom>
          <a:solidFill>
            <a:srgbClr val="141414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" y="48920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no separar en submarcas?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5230368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sistema de Drops ya prueba que ambos públicos comparten el punto de entrada. Separar en marcas distintas duplicaría el costo de construir reconocimiento sin necesidad — se revisa solo si el negocio de reventa escala a operación propia.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4206240"/>
            <a:ext cx="4572000" cy="4572000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 CREATIVO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ABRE”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803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Drop no es un descuento. Es una puerta que se abre y después se cierra sola.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3794760"/>
            <a:ext cx="384048" cy="384048"/>
          </a:xfrm>
          <a:prstGeom prst="ellipse">
            <a:avLst/>
          </a:prstGeom>
          <a:solidFill>
            <a:srgbClr val="FFD600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3749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Repetible sin agotarse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405079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Drop nuevo es una nueva apertura, con su propio teaser / reveal / cierre.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" y="4636008"/>
            <a:ext cx="384048" cy="384048"/>
          </a:xfrm>
          <a:prstGeom prst="ellipse">
            <a:avLst/>
          </a:prstGeom>
          <a:solidFill>
            <a:srgbClr val="FFD600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4636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34440" y="45902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Coherente con el negocio real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4892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sistema de Drops ya funciona así — el concepto nombra lo que el producto ya hace.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58368" y="5477256"/>
            <a:ext cx="384048" cy="384048"/>
          </a:xfrm>
          <a:prstGeom prst="ellipse">
            <a:avLst/>
          </a:prstGeom>
          <a:solidFill>
            <a:srgbClr val="FFD600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4440" y="543153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Compatible con los dos públicos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573328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puerta se abre igual para quien renueva el ropero y para quien emprende.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CONTENIDO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Nueve pilares. Ninguno solo, todos mezclados.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74720" cy="1280160"/>
          </a:xfrm>
          <a:prstGeom prst="roundRect">
            <a:avLst>
              <a:gd name="adj" fmla="val 6429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7614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560320" y="28163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calendario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51960" y="2103120"/>
            <a:ext cx="3474720" cy="1280160"/>
          </a:xfrm>
          <a:prstGeom prst="roundRect">
            <a:avLst>
              <a:gd name="adj" fmla="val 6429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Lifestyle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26280" y="27614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172200" y="28163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calendario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863840" y="2103120"/>
            <a:ext cx="3474720" cy="1280160"/>
          </a:xfrm>
          <a:prstGeom prst="roundRect">
            <a:avLst>
              <a:gd name="adj" fmla="val 6429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13816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38160" y="27614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784080" y="28163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calendario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3474720" cy="1280160"/>
          </a:xfrm>
          <a:prstGeom prst="roundRect">
            <a:avLst>
              <a:gd name="adj" fmla="val 6429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703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1788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560320" y="4233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calendario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3520440"/>
            <a:ext cx="3474720" cy="1280160"/>
          </a:xfrm>
          <a:prstGeom prst="roundRect">
            <a:avLst>
              <a:gd name="adj" fmla="val 6429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3703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Entrepreneur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26280" y="41788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172200" y="4233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calendario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3840" y="3520440"/>
            <a:ext cx="3474720" cy="1280160"/>
          </a:xfrm>
          <a:prstGeom prst="roundRect">
            <a:avLst>
              <a:gd name="adj" fmla="val 6429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138160" y="37033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138160" y="41788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784080" y="42336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calendario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0080" y="4937760"/>
            <a:ext cx="3474720" cy="1280160"/>
          </a:xfrm>
          <a:prstGeom prst="roundRect">
            <a:avLst>
              <a:gd name="adj" fmla="val 6429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14400" y="5120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4400" y="5596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2560320" y="56509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calendario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251960" y="4937760"/>
            <a:ext cx="3474720" cy="1280160"/>
          </a:xfrm>
          <a:prstGeom prst="roundRect">
            <a:avLst>
              <a:gd name="adj" fmla="val 6429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526280" y="5120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4526280" y="5596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6172200" y="56509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calendario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863840" y="4937760"/>
            <a:ext cx="3474720" cy="1280160"/>
          </a:xfrm>
          <a:prstGeom prst="roundRect">
            <a:avLst>
              <a:gd name="adj" fmla="val 6429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138160" y="5120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Conversion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138160" y="5596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9784080" y="56509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calendario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 EN ACCIÓN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series y 150 hooks, ya escritos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DESTACADAS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4871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4871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me llevo por...?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06240" y="250545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2971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¿Con cuánto empiezo?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06240" y="29900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ENTREPRENEUR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345643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4564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agotó en...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06240" y="3474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+ PROOF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40080" y="394106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394106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Errores de revendedor novato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06240" y="39593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ENTREPRENEUR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40080" y="44256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44256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Objeción del Día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06240" y="44439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40080" y="49103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4400" y="49103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Primera Venta (UGC)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06240" y="492861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83680" y="2103120"/>
            <a:ext cx="4983480" cy="4160520"/>
          </a:xfrm>
          <a:prstGeom prst="roundRect">
            <a:avLst>
              <a:gd name="adj" fmla="val 1978"/>
            </a:avLst>
          </a:prstGeom>
          <a:solidFill>
            <a:srgbClr val="141414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858000" y="23317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LIBRARY · 14 CATEGORÍAS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58000" y="274320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“Esto es literalmente todo lo que te llevás por $70K.”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858000" y="3456432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“Con $70K podés arrancar a vender. Así es como.”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858000" y="416966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“Quedan [X] combos. Después no hay.”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858000" y="4882896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“Comparar de a prenda es más caro? Hagamos la cuenta.”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58000" y="57150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Curiosidad · Precio · Valor · Emprendimiento · Humor · Controversia · Comparación · Transformación · Urgencia · Stock · Calidad · Dinero · Estilo · Marco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CONFIRMADO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Colom ya está en la órbita del proyecto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931920" cy="4160520"/>
          </a:xfrm>
          <a:prstGeom prst="roundRect">
            <a:avLst>
              <a:gd name="adj" fmla="val 2093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77440"/>
            <a:ext cx="1005840" cy="1005840"/>
          </a:xfrm>
          <a:prstGeom prst="ellipse">
            <a:avLst/>
          </a:prstGeom>
          <a:solidFill>
            <a:srgbClr val="00A8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774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05740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@marqo.ec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057400" y="2834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Emiliano Colom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36576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108K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914400" y="4370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seguidores confirmados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vivo (13-08-2026)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14400" y="501091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i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“Fútbol &amp; Viajes / Emprendimiento @kairo.stamp”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56235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seguido por @ama.blur y @cuervo.8v — no es un contacto en frío.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9204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 PROPUESTO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92040" y="2468880"/>
            <a:ext cx="6656832" cy="1143000"/>
          </a:xfrm>
          <a:prstGeom prst="roundRect">
            <a:avLst>
              <a:gd name="adj" fmla="val 7200"/>
            </a:avLst>
          </a:prstGeom>
          <a:solidFill>
            <a:srgbClr val="141414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120640" y="2724912"/>
            <a:ext cx="457200" cy="457200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760720" y="2596896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Emprendedor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760720" y="2926080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propio negocio (@kairo.stamp) es el ángulo más real que tenemos — a confirmar de qué se trata antes de escribir guiones.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892040" y="3767328"/>
            <a:ext cx="6656832" cy="1143000"/>
          </a:xfrm>
          <a:prstGeom prst="roundRect">
            <a:avLst>
              <a:gd name="adj" fmla="val 7200"/>
            </a:avLst>
          </a:prstGeom>
          <a:solidFill>
            <a:srgbClr val="141414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120640" y="4023360"/>
            <a:ext cx="457200" cy="457200"/>
          </a:xfrm>
          <a:prstGeom prst="ellipse">
            <a:avLst/>
          </a:prstGeom>
          <a:solidFill>
            <a:srgbClr val="FFD600"/>
          </a:solidFill>
          <a:ln/>
        </p:spPr>
      </p:sp>
      <p:sp>
        <p:nvSpPr>
          <p:cNvPr id="21" name="Text 19"/>
          <p:cNvSpPr/>
          <p:nvPr/>
        </p:nvSpPr>
        <p:spPr>
          <a:xfrm>
            <a:off x="51206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760720" y="389534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Creador (fútbol / lifestyle)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760720" y="4224528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 en la línea de lo que ya publica — no forzamos un ángulo de moda que su cuenta no respalda hoy.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5065776"/>
            <a:ext cx="6656832" cy="1143000"/>
          </a:xfrm>
          <a:prstGeom prst="roundRect">
            <a:avLst>
              <a:gd name="adj" fmla="val 7200"/>
            </a:avLst>
          </a:prstGeom>
          <a:solidFill>
            <a:srgbClr val="141414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120640" y="5321808"/>
            <a:ext cx="457200" cy="457200"/>
          </a:xfrm>
          <a:prstGeom prst="ellipse">
            <a:avLst/>
          </a:prstGeom>
          <a:solidFill>
            <a:srgbClr val="00A8FF"/>
          </a:solidFill>
          <a:ln/>
        </p:spPr>
      </p:sp>
      <p:sp>
        <p:nvSpPr>
          <p:cNvPr id="26" name="Text 24"/>
          <p:cNvSpPr/>
          <p:nvPr/>
        </p:nvSpPr>
        <p:spPr>
          <a:xfrm>
            <a:off x="5120640" y="5321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760720" y="519379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760720" y="5522976"/>
            <a:ext cx="5623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 los Drops. Bajo riesgo, alto alcance dado el volumen de audiencia ya confirmado.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LANZAMIENTO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Drop es un evento, no una publicación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19279" y="3017520"/>
            <a:ext cx="9350393" cy="0"/>
          </a:xfrm>
          <a:prstGeom prst="line">
            <a:avLst/>
          </a:prstGeom>
          <a:noFill/>
          <a:ln w="254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0407" y="2898648"/>
            <a:ext cx="237744" cy="237744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331720"/>
            <a:ext cx="1466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T-14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3291840"/>
            <a:ext cx="1466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Expectativa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858806" y="2898648"/>
            <a:ext cx="237744" cy="237744"/>
          </a:xfrm>
          <a:prstGeom prst="ellipse">
            <a:avLst/>
          </a:prstGeom>
          <a:solidFill>
            <a:srgbClr val="FFD600"/>
          </a:solidFill>
          <a:ln/>
        </p:spPr>
      </p:sp>
      <p:sp>
        <p:nvSpPr>
          <p:cNvPr id="9" name="Text 7"/>
          <p:cNvSpPr/>
          <p:nvPr/>
        </p:nvSpPr>
        <p:spPr>
          <a:xfrm>
            <a:off x="2244199" y="2331720"/>
            <a:ext cx="1466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T-7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244199" y="3291840"/>
            <a:ext cx="1466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17205" y="2898648"/>
            <a:ext cx="237744" cy="237744"/>
          </a:xfrm>
          <a:prstGeom prst="ellipse">
            <a:avLst/>
          </a:prstGeom>
          <a:solidFill>
            <a:srgbClr val="00A8FF"/>
          </a:solidFill>
          <a:ln/>
        </p:spPr>
      </p:sp>
      <p:sp>
        <p:nvSpPr>
          <p:cNvPr id="12" name="Text 10"/>
          <p:cNvSpPr/>
          <p:nvPr/>
        </p:nvSpPr>
        <p:spPr>
          <a:xfrm>
            <a:off x="3802598" y="2331720"/>
            <a:ext cx="1466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02598" y="3291840"/>
            <a:ext cx="1466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Oferta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75604" y="2898648"/>
            <a:ext cx="237744" cy="237744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15" name="Text 13"/>
          <p:cNvSpPr/>
          <p:nvPr/>
        </p:nvSpPr>
        <p:spPr>
          <a:xfrm>
            <a:off x="5360997" y="2331720"/>
            <a:ext cx="1466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T-1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60997" y="3291840"/>
            <a:ext cx="1466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Urgencia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534003" y="2898648"/>
            <a:ext cx="237744" cy="237744"/>
          </a:xfrm>
          <a:prstGeom prst="ellipse">
            <a:avLst/>
          </a:prstGeom>
          <a:solidFill>
            <a:srgbClr val="FFD600"/>
          </a:solidFill>
          <a:ln/>
        </p:spPr>
      </p:sp>
      <p:sp>
        <p:nvSpPr>
          <p:cNvPr id="18" name="Text 16"/>
          <p:cNvSpPr/>
          <p:nvPr/>
        </p:nvSpPr>
        <p:spPr>
          <a:xfrm>
            <a:off x="6919395" y="2331720"/>
            <a:ext cx="1466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T-0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19395" y="3291840"/>
            <a:ext cx="1466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Lanzamiento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092402" y="2898648"/>
            <a:ext cx="237744" cy="237744"/>
          </a:xfrm>
          <a:prstGeom prst="ellipse">
            <a:avLst/>
          </a:prstGeom>
          <a:solidFill>
            <a:srgbClr val="00A8FF"/>
          </a:solidFill>
          <a:ln/>
        </p:spPr>
      </p:sp>
      <p:sp>
        <p:nvSpPr>
          <p:cNvPr id="21" name="Text 19"/>
          <p:cNvSpPr/>
          <p:nvPr/>
        </p:nvSpPr>
        <p:spPr>
          <a:xfrm>
            <a:off x="8477794" y="2331720"/>
            <a:ext cx="1466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T+1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77794" y="3291840"/>
            <a:ext cx="1466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social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650801" y="2898648"/>
            <a:ext cx="237744" cy="237744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24" name="Text 22"/>
          <p:cNvSpPr/>
          <p:nvPr/>
        </p:nvSpPr>
        <p:spPr>
          <a:xfrm>
            <a:off x="10036193" y="2331720"/>
            <a:ext cx="1466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T+7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036193" y="3291840"/>
            <a:ext cx="1466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Drop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4343400"/>
            <a:ext cx="10908792" cy="1783080"/>
          </a:xfrm>
          <a:prstGeom prst="roundRect">
            <a:avLst>
              <a:gd name="adj" fmla="val 4615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14400" y="45262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 que no se toca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14400" y="489204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stock llega a cero, el Drop termina aunque falten horas — y no se repite de inmediato. Es lo que le da credibilidad real a la urgencia de cada pieza de contenido. Romperla una vez, y el argumento de escasez deja de funcionar para todos los Drops futuros.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VENTAS, CRM Y TRACKING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embudo real: contenido → WhatsApp → dato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755648" cy="685800"/>
          </a:xfrm>
          <a:prstGeom prst="roundRect">
            <a:avLst>
              <a:gd name="adj" fmla="val 10667"/>
            </a:avLst>
          </a:prstGeom>
          <a:solidFill>
            <a:srgbClr val="1A1A1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9456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395728" y="2194560"/>
            <a:ext cx="228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487168" y="2194560"/>
            <a:ext cx="1755648" cy="685800"/>
          </a:xfrm>
          <a:prstGeom prst="roundRect">
            <a:avLst>
              <a:gd name="adj" fmla="val 10667"/>
            </a:avLst>
          </a:prstGeom>
          <a:solidFill>
            <a:srgbClr val="1A1A1A"/>
          </a:solidFill>
          <a:ln/>
        </p:spPr>
      </p:sp>
      <p:sp>
        <p:nvSpPr>
          <p:cNvPr id="8" name="Text 6"/>
          <p:cNvSpPr/>
          <p:nvPr/>
        </p:nvSpPr>
        <p:spPr>
          <a:xfrm>
            <a:off x="2487168" y="219456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242816" y="2194560"/>
            <a:ext cx="228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34256" y="2194560"/>
            <a:ext cx="1755648" cy="685800"/>
          </a:xfrm>
          <a:prstGeom prst="roundRect">
            <a:avLst>
              <a:gd name="adj" fmla="val 10667"/>
            </a:avLst>
          </a:prstGeom>
          <a:solidFill>
            <a:srgbClr val="1A1A1A"/>
          </a:solidFill>
          <a:ln/>
        </p:spPr>
      </p:sp>
      <p:sp>
        <p:nvSpPr>
          <p:cNvPr id="11" name="Text 9"/>
          <p:cNvSpPr/>
          <p:nvPr/>
        </p:nvSpPr>
        <p:spPr>
          <a:xfrm>
            <a:off x="4334256" y="219456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/ WhatsApp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089904" y="2194560"/>
            <a:ext cx="228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81344" y="2194560"/>
            <a:ext cx="1755648" cy="685800"/>
          </a:xfrm>
          <a:prstGeom prst="roundRect">
            <a:avLst>
              <a:gd name="adj" fmla="val 10667"/>
            </a:avLst>
          </a:prstGeom>
          <a:solidFill>
            <a:srgbClr val="1A1A1A"/>
          </a:solidFill>
          <a:ln/>
        </p:spPr>
      </p:sp>
      <p:sp>
        <p:nvSpPr>
          <p:cNvPr id="14" name="Text 12"/>
          <p:cNvSpPr/>
          <p:nvPr/>
        </p:nvSpPr>
        <p:spPr>
          <a:xfrm>
            <a:off x="6181344" y="219456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de Drop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936992" y="2194560"/>
            <a:ext cx="228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28432" y="2194560"/>
            <a:ext cx="1755648" cy="685800"/>
          </a:xfrm>
          <a:prstGeom prst="roundRect">
            <a:avLst>
              <a:gd name="adj" fmla="val 10667"/>
            </a:avLst>
          </a:prstGeom>
          <a:solidFill>
            <a:srgbClr val="1A1A1A"/>
          </a:solidFill>
          <a:ln/>
        </p:spPr>
      </p:sp>
      <p:sp>
        <p:nvSpPr>
          <p:cNvPr id="17" name="Text 15"/>
          <p:cNvSpPr/>
          <p:nvPr/>
        </p:nvSpPr>
        <p:spPr>
          <a:xfrm>
            <a:off x="8028432" y="219456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784080" y="2194560"/>
            <a:ext cx="228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875520" y="2194560"/>
            <a:ext cx="1755648" cy="685800"/>
          </a:xfrm>
          <a:prstGeom prst="roundRect">
            <a:avLst>
              <a:gd name="adj" fmla="val 10667"/>
            </a:avLst>
          </a:prstGeom>
          <a:solidFill>
            <a:srgbClr val="FF1E1E"/>
          </a:solidFill>
          <a:ln/>
        </p:spPr>
      </p:sp>
      <p:sp>
        <p:nvSpPr>
          <p:cNvPr id="20" name="Text 18"/>
          <p:cNvSpPr/>
          <p:nvPr/>
        </p:nvSpPr>
        <p:spPr>
          <a:xfrm>
            <a:off x="9875520" y="219456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3246120"/>
            <a:ext cx="3520440" cy="2880360"/>
          </a:xfrm>
          <a:prstGeom prst="roundRect">
            <a:avLst>
              <a:gd name="adj" fmla="val 2857"/>
            </a:avLst>
          </a:prstGeom>
          <a:solidFill>
            <a:srgbClr val="141414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14400" y="3474720"/>
            <a:ext cx="146304" cy="146304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3703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WhatsApp, no checkout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4400" y="42976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Shop no existe en AR y el checkout nativo de Instagram no está confirmado — WhatsApp es, hoy, el canal de cierre real.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43400" y="3246120"/>
            <a:ext cx="3520440" cy="2880360"/>
          </a:xfrm>
          <a:prstGeom prst="roundRect">
            <a:avLst>
              <a:gd name="adj" fmla="val 2857"/>
            </a:avLst>
          </a:prstGeom>
          <a:solidFill>
            <a:srgbClr val="141414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17720" y="3474720"/>
            <a:ext cx="146304" cy="146304"/>
          </a:xfrm>
          <a:prstGeom prst="ellipse">
            <a:avLst/>
          </a:prstGeom>
          <a:solidFill>
            <a:srgbClr val="FFD600"/>
          </a:solidFill>
          <a:ln/>
        </p:spPr>
      </p:sp>
      <p:sp>
        <p:nvSpPr>
          <p:cNvPr id="27" name="Text 25"/>
          <p:cNvSpPr/>
          <p:nvPr/>
        </p:nvSpPr>
        <p:spPr>
          <a:xfrm>
            <a:off x="4617720" y="3703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Atribución sin checkout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617720" y="42976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corto por pieza de contenido (“escribime TONY150-R7”) + la pregunta “¿por dónde nos encontraste?” al cerrar.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46720" y="3246120"/>
            <a:ext cx="3520440" cy="2880360"/>
          </a:xfrm>
          <a:prstGeom prst="roundRect">
            <a:avLst>
              <a:gd name="adj" fmla="val 2857"/>
            </a:avLst>
          </a:prstGeom>
          <a:solidFill>
            <a:srgbClr val="141414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21040" y="3474720"/>
            <a:ext cx="146304" cy="146304"/>
          </a:xfrm>
          <a:prstGeom prst="ellipse">
            <a:avLst/>
          </a:prstGeom>
          <a:solidFill>
            <a:srgbClr val="00A8FF"/>
          </a:solidFill>
          <a:ln/>
        </p:spPr>
      </p:sp>
      <p:sp>
        <p:nvSpPr>
          <p:cNvPr id="31" name="Text 29"/>
          <p:cNvSpPr/>
          <p:nvPr/>
        </p:nvSpPr>
        <p:spPr>
          <a:xfrm>
            <a:off x="8321040" y="3703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por segmento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321040" y="429768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Consumidor / Emprendedor / Revendedor, cruzado con el programa de niveles Bronze-Black ya existente.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90 DÍAS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→ Launch → Scale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20440" cy="4160520"/>
          </a:xfrm>
          <a:prstGeom prst="roundRect">
            <a:avLst>
              <a:gd name="adj" fmla="val 233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317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0D0D0D"/>
          </a:solidFill>
          <a:ln w="15875">
            <a:solidFill>
              <a:srgbClr val="FF1E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317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DÍAS 1–30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+ Positioning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07008" y="3657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Resolver bloqueos (G5, Drop $70K, Marco)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14400" y="431596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07008" y="4315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Primera jornada de producción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14400" y="497433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07008" y="4974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 orgánico, sin campaña paga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43400" y="2103120"/>
            <a:ext cx="3520440" cy="4160520"/>
          </a:xfrm>
          <a:prstGeom prst="roundRect">
            <a:avLst>
              <a:gd name="adj" fmla="val 233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23317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0D0D0D"/>
          </a:solidFill>
          <a:ln w="15875">
            <a:solidFill>
              <a:srgbClr val="FFD6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23317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DÍAS 31–60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1772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Launch + Growth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4617720" y="3657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10328" y="3657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lanzamiento con tracking activo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617720" y="431596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10328" y="4315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Camino B (emprendedor) con más fuerza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617720" y="497433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10328" y="4974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Primera inversión paga, acotada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46720" y="2103120"/>
            <a:ext cx="3520440" cy="4160520"/>
          </a:xfrm>
          <a:prstGeom prst="roundRect">
            <a:avLst>
              <a:gd name="adj" fmla="val 233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321040" y="23317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0D0D0D"/>
          </a:solidFill>
          <a:ln w="15875">
            <a:solidFill>
              <a:srgbClr val="00A8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1040" y="23317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DÍAS 61–90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321040" y="28346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+ Scale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8321040" y="3657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613648" y="3657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Optimizar con datos reales, no hipótesis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321040" y="431596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613648" y="4315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Escalar inversión según ROAS/CAC real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321040" y="497433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613648" y="4974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 + propuesta de próximos 90 días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necesitamos de ustedes para arrancar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438912" cy="438912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03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208483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Conversación sobre “G5 Premium”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243230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realmente el producto — condiciona toda la comunicación de calidad.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944368"/>
            <a:ext cx="438912" cy="438912"/>
          </a:xfrm>
          <a:prstGeom prst="ellipse">
            <a:avLst/>
          </a:prstGeom>
          <a:solidFill>
            <a:srgbClr val="FFD60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44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9260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el Drop $70K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32735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Cantidad de prendas y contenido — no existe todavía en el manual ni el CRM.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785616"/>
            <a:ext cx="438912" cy="438912"/>
          </a:xfrm>
          <a:prstGeom prst="ellipse">
            <a:avLst/>
          </a:prstGeom>
          <a:solidFill>
            <a:srgbClr val="00A8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856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7673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Costos y márgenes por Drop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41148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Aunque sea confidencial — necesario para la calculadora de reventa y los KPIs.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626864"/>
            <a:ext cx="438912" cy="438912"/>
          </a:xfrm>
          <a:prstGeom prst="ellipse">
            <a:avLst/>
          </a:prstGeom>
          <a:solidFill>
            <a:srgbClr val="FF1E1E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268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60857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@kairo.stamp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95604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el emprendimiento de Marco, antes de escribir contenido sobre él.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10908792" cy="868680"/>
          </a:xfrm>
          <a:prstGeom prst="roundRect">
            <a:avLst>
              <a:gd name="adj" fmla="val 9474"/>
            </a:avLst>
          </a:prstGeom>
          <a:solidFill>
            <a:srgbClr val="1A0808"/>
          </a:solidFill>
          <a:ln/>
          <a:effectLst>
            <a:outerShdw sx="100000" sy="100000" kx="0" ky="0" algn="bl" rotWithShape="0" blurRad="101600" dist="38100" dir="5400000">
              <a:srgbClr val="000000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53492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FFD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Ninguno de estos puntos frena el arranque — el contenido, el concepto creativo y el sistema de lanzamiento son independientes de ellos.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TONY IMPORTADOS · DROP COMMERCE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2026-08-15T03:08:58Z</dcterms:created>
  <dcterms:modified xsi:type="dcterms:W3CDTF">2026-08-15T03:08:58Z</dcterms:modified>
</cp:coreProperties>
</file>